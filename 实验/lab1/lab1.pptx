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9" r:id="rId4"/>
    <p:sldId id="268" r:id="rId5"/>
    <p:sldId id="274" r:id="rId6"/>
    <p:sldId id="272" r:id="rId7"/>
    <p:sldId id="271" r:id="rId8"/>
    <p:sldId id="262" r:id="rId9"/>
    <p:sldId id="275" r:id="rId10"/>
    <p:sldId id="277" r:id="rId11"/>
    <p:sldId id="276" r:id="rId12"/>
    <p:sldId id="278" r:id="rId13"/>
    <p:sldId id="279" r:id="rId14"/>
    <p:sldId id="280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 userDrawn="1">
          <p15:clr>
            <a:srgbClr val="A4A3A4"/>
          </p15:clr>
        </p15:guide>
        <p15:guide id="3" orient="horz" pos="216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25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54" autoAdjust="0"/>
    <p:restoredTop sz="96223" autoAdjust="0"/>
  </p:normalViewPr>
  <p:slideViewPr>
    <p:cSldViewPr snapToGrid="0" showGuides="1">
      <p:cViewPr varScale="1">
        <p:scale>
          <a:sx n="57" d="100"/>
          <a:sy n="57" d="100"/>
        </p:scale>
        <p:origin x="1032" y="32"/>
      </p:cViewPr>
      <p:guideLst>
        <p:guide pos="2880"/>
        <p:guide orient="horz" pos="2169"/>
      </p:guideLst>
    </p:cSldViewPr>
  </p:slideViewPr>
  <p:outlineViewPr>
    <p:cViewPr>
      <p:scale>
        <a:sx n="33" d="100"/>
        <a:sy n="33" d="100"/>
      </p:scale>
      <p:origin x="0" y="-3378"/>
    </p:cViewPr>
  </p:outlineViewPr>
  <p:notesTextViewPr>
    <p:cViewPr>
      <p:scale>
        <a:sx n="125" d="100"/>
        <a:sy n="125" d="100"/>
      </p:scale>
      <p:origin x="0" y="0"/>
    </p:cViewPr>
  </p:notesTextViewPr>
  <p:notesViewPr>
    <p:cSldViewPr snapToGrid="0" showGuides="1">
      <p:cViewPr varScale="1">
        <p:scale>
          <a:sx n="68" d="100"/>
          <a:sy n="68" d="100"/>
        </p:scale>
        <p:origin x="187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DAD964-A622-4AAE-B744-53C99E3B3340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68BA9-4DDB-4A94-8531-2E89A5DE50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9408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5858B-718F-4B2D-8BD1-8BF89932B326}" type="datetimeFigureOut">
              <a:rPr lang="zh-CN" altLang="en-US" smtClean="0"/>
              <a:t>2024/2/25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10111-4C48-4E92-8CF1-F5F4BAA2D7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25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10111-4C48-4E92-8CF1-F5F4BAA2D7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548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9E31B-9D79-B69D-522D-563CEEAB3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C0FA1E-74D3-CF55-97C7-154F02011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027C46-6F5F-417E-EDED-8149DD882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003BFE-986D-AB05-F623-1674614BD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10111-4C48-4E92-8CF1-F5F4BAA2D7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018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10111-4C48-4E92-8CF1-F5F4BAA2D7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284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5BF0F-F20A-1EDC-E465-88C757984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15B261-5BE0-5AD1-D263-72C743066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23A05D-347D-BFEB-B891-58D230D54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856884-BE5A-CF57-5DD2-98C6FF0C8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10111-4C48-4E92-8CF1-F5F4BAA2D7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620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2A6B-9794-E341-F554-18092358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B8EF3B-B092-8570-5D0A-C01C6DDD5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2E2A21-9069-CEC4-9786-C587CE699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89B3B4-A890-243F-5590-C63A7D8E8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10111-4C48-4E92-8CF1-F5F4BAA2D7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208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91BB4-1732-375A-8D99-3CDC3705C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1E0337-6719-9BE7-913C-8A11336DD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B2FB69-1A26-3087-9B2B-1BDEB4099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121A7C-2338-AD72-5252-2501A4961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10111-4C48-4E92-8CF1-F5F4BAA2D7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697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91103"/>
            <a:ext cx="7772400" cy="739444"/>
          </a:xfrm>
        </p:spPr>
        <p:txBody>
          <a:bodyPr anchor="b"/>
          <a:lstStyle>
            <a:lvl1pPr algn="ctr">
              <a:defRPr sz="4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8965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Computer </a:t>
            </a:r>
            <a:r>
              <a:rPr lang="en-US" altLang="zh-CN" dirty="0" err="1"/>
              <a:t>Graphcis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6FD9405-CE62-418F-9683-85B6A1C55A4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1076547" y="2562446"/>
            <a:ext cx="6990907" cy="0"/>
          </a:xfrm>
          <a:prstGeom prst="line">
            <a:avLst/>
          </a:prstGeom>
          <a:ln w="12700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47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>
          <a:xfrm>
            <a:off x="0" y="6176963"/>
            <a:ext cx="9144000" cy="681037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2659"/>
            <a:ext cx="8280000" cy="606041"/>
          </a:xfrm>
        </p:spPr>
        <p:txBody>
          <a:bodyPr/>
          <a:lstStyle>
            <a:lvl1pPr>
              <a:defRPr sz="2800">
                <a:latin typeface="+mn-lt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976838"/>
            <a:ext cx="8280000" cy="5063602"/>
          </a:xfrm>
        </p:spPr>
        <p:txBody>
          <a:bodyPr/>
          <a:lstStyle>
            <a:lvl1pPr>
              <a:defRPr sz="2400">
                <a:latin typeface="+mn-lt"/>
                <a:ea typeface="微软雅黑" panose="020B0503020204020204" pitchFamily="34" charset="-122"/>
              </a:defRPr>
            </a:lvl1pPr>
            <a:lvl2pPr>
              <a:defRPr sz="2000">
                <a:latin typeface="+mn-lt"/>
                <a:ea typeface="微软雅黑" panose="020B0503020204020204" pitchFamily="34" charset="-122"/>
              </a:defRPr>
            </a:lvl2pPr>
            <a:lvl3pPr>
              <a:defRPr sz="1800">
                <a:latin typeface="+mn-lt"/>
                <a:ea typeface="微软雅黑" panose="020B0503020204020204" pitchFamily="34" charset="-122"/>
              </a:defRPr>
            </a:lvl3pPr>
            <a:lvl4pPr>
              <a:defRPr sz="1600">
                <a:latin typeface="+mn-lt"/>
                <a:ea typeface="微软雅黑" panose="020B0503020204020204" pitchFamily="34" charset="-122"/>
              </a:defRPr>
            </a:lvl4pPr>
            <a:lvl5pPr>
              <a:defRPr sz="1600">
                <a:latin typeface="+mn-lt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defRPr>
            </a:lvl1pPr>
          </a:lstStyle>
          <a:p>
            <a:fld id="{36FD9405-CE62-418F-9683-85B6A1C55A4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393405" y="818700"/>
            <a:ext cx="8282762" cy="0"/>
          </a:xfrm>
          <a:prstGeom prst="line">
            <a:avLst/>
          </a:prstGeom>
          <a:ln w="12700">
            <a:solidFill>
              <a:srgbClr val="0058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400" b="1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Computer Graphics</a:t>
            </a:r>
            <a:endParaRPr lang="zh-CN" altLang="en-US" dirty="0"/>
          </a:p>
        </p:txBody>
      </p:sp>
      <p:pic>
        <p:nvPicPr>
          <p:cNvPr id="12" name="Picture 9" descr="C:\Users\SZH\Downloads\gif图片下载\gif图片下载\校徽.gif"/>
          <p:cNvPicPr>
            <a:picLocks noChangeAspect="1" noChangeArrowheads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0" y="6181865"/>
            <a:ext cx="725182" cy="676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028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176963"/>
            <a:ext cx="9144000" cy="681037"/>
          </a:xfrm>
          <a:prstGeom prst="rect">
            <a:avLst/>
          </a:prstGeom>
          <a:solidFill>
            <a:srgbClr val="0058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6FD9405-CE62-418F-9683-85B6A1C55A4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356351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400" b="1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Computer Graphics</a:t>
            </a:r>
            <a:endParaRPr lang="zh-CN" altLang="en-US" dirty="0"/>
          </a:p>
        </p:txBody>
      </p:sp>
      <p:pic>
        <p:nvPicPr>
          <p:cNvPr id="10" name="Picture 9" descr="C:\Users\SZH\Downloads\gif图片下载\gif图片下载\校徽.gif"/>
          <p:cNvPicPr>
            <a:picLocks noChangeAspect="1" noChangeArrowheads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0" y="6181865"/>
            <a:ext cx="725182" cy="676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10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Data Structure &amp; Algorithm Analysis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6FD9405-CE62-418F-9683-85B6A1C5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102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Data Structure &amp; Algorithm Analysis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6FD9405-CE62-418F-9683-85B6A1C5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20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Data Structure &amp; Algorithm Analysis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6FD9405-CE62-418F-9683-85B6A1C5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585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Data Structure &amp; Algorithm Analysis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6FD9405-CE62-418F-9683-85B6A1C5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955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Data Structure &amp; Algorithm Analysis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6FD9405-CE62-418F-9683-85B6A1C5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202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Data Structure &amp; Algorithm Analysis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6FD9405-CE62-418F-9683-85B6A1C5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568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Data Structure &amp; Algorithm Analysis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6FD9405-CE62-418F-9683-85B6A1C5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029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Data Structure &amp; Algorithm Analysis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6FD9405-CE62-418F-9683-85B6A1C55A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29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531637"/>
            <a:ext cx="8280000" cy="584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338338"/>
            <a:ext cx="828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Data Structure &amp; Algorithm Analysis</a:t>
            </a:r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59066-C5B0-49A4-8A01-22CA3197C1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902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iuning2@mail.sysu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gi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mikeos.sourceforge.net/" TargetMode="External"/><Relationship Id="rId13" Type="http://schemas.openxmlformats.org/officeDocument/2006/relationships/hyperlink" Target="https://github.com/cfenollosa/os-tutorial" TargetMode="External"/><Relationship Id="rId3" Type="http://schemas.openxmlformats.org/officeDocument/2006/relationships/hyperlink" Target="https://th0ar.gitbooks.io/xv6-chinese/content/" TargetMode="External"/><Relationship Id="rId7" Type="http://schemas.openxmlformats.org/officeDocument/2006/relationships/hyperlink" Target="https://www.kernel.org/" TargetMode="External"/><Relationship Id="rId12" Type="http://schemas.openxmlformats.org/officeDocument/2006/relationships/hyperlink" Target="https://12101111.github.io/write-os-in-rust/" TargetMode="External"/><Relationship Id="rId2" Type="http://schemas.openxmlformats.org/officeDocument/2006/relationships/hyperlink" Target="https://github.com/kiukotsu/ucore&#65307;https:/objectkuan.gitbooks.io/ucore-docs/conten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.biancheng.net/asm/10/" TargetMode="External"/><Relationship Id="rId11" Type="http://schemas.openxmlformats.org/officeDocument/2006/relationships/hyperlink" Target="https://os.phil-opp.com/" TargetMode="External"/><Relationship Id="rId5" Type="http://schemas.openxmlformats.org/officeDocument/2006/relationships/hyperlink" Target="https://github.com/remzi-arpacidusseau/ostep-projects" TargetMode="External"/><Relationship Id="rId15" Type="http://schemas.openxmlformats.org/officeDocument/2006/relationships/hyperlink" Target="https://github.com/redox-os" TargetMode="External"/><Relationship Id="rId10" Type="http://schemas.openxmlformats.org/officeDocument/2006/relationships/hyperlink" Target="https://github.com/rust-embedded/rust-raspberrypi-OS-tutorials" TargetMode="External"/><Relationship Id="rId4" Type="http://schemas.openxmlformats.org/officeDocument/2006/relationships/hyperlink" Target="https://github.com/ranxian/xv6-Chinese" TargetMode="External"/><Relationship Id="rId9" Type="http://schemas.openxmlformats.org/officeDocument/2006/relationships/hyperlink" Target="http://mikeos.sourceforge.net/write-your-own-os.html" TargetMode="External"/><Relationship Id="rId14" Type="http://schemas.openxmlformats.org/officeDocument/2006/relationships/hyperlink" Target="https://github.com/mit-pdos/xv6-public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unoob.com/linux/linux-command-manual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48573"/>
            <a:ext cx="7772400" cy="73944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latin typeface="+mn-lt"/>
              </a:rPr>
              <a:t>操作系统实验</a:t>
            </a:r>
          </a:p>
        </p:txBody>
      </p:sp>
      <p:sp>
        <p:nvSpPr>
          <p:cNvPr id="7" name="副标题 2"/>
          <p:cNvSpPr>
            <a:spLocks noGrp="1"/>
          </p:cNvSpPr>
          <p:nvPr>
            <p:ph type="subTitle" idx="1"/>
          </p:nvPr>
        </p:nvSpPr>
        <p:spPr>
          <a:xfrm>
            <a:off x="1143000" y="3076487"/>
            <a:ext cx="6858000" cy="2244544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latin typeface="+mn-lt"/>
              </a:rPr>
              <a:t>Teacher:  Dr. Ning Liu  (</a:t>
            </a:r>
            <a:r>
              <a:rPr lang="zh-CN" altLang="en-US" sz="2000" b="1" dirty="0">
                <a:latin typeface="+mn-lt"/>
              </a:rPr>
              <a:t>刘宁</a:t>
            </a:r>
            <a:r>
              <a:rPr lang="en-US" altLang="zh-CN" sz="2000" b="1" dirty="0">
                <a:latin typeface="+mn-lt"/>
              </a:rPr>
              <a:t>)</a:t>
            </a: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latin typeface="+mn-lt"/>
              </a:rPr>
              <a:t>E-mail:</a:t>
            </a:r>
            <a:r>
              <a:rPr lang="en-US" altLang="zh-CN" sz="2000" b="1" dirty="0">
                <a:latin typeface="+mn-lt"/>
                <a:hlinkClick r:id="rId3"/>
              </a:rPr>
              <a:t>liuning2@mail.sysu.edu.cn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latin typeface="+mn-lt"/>
              </a:rPr>
              <a:t>School of Computer Science and Engineering</a:t>
            </a:r>
            <a:endParaRPr lang="zh-CN" altLang="en-US" sz="2000" b="1" dirty="0">
              <a:latin typeface="+mn-lt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32517" y="538068"/>
            <a:ext cx="5178008" cy="365125"/>
          </a:xfrm>
        </p:spPr>
        <p:txBody>
          <a:bodyPr/>
          <a:lstStyle/>
          <a:p>
            <a:pPr algn="l"/>
            <a:r>
              <a:rPr lang="zh-CN" altLang="en-US" sz="2000" b="1" dirty="0">
                <a:solidFill>
                  <a:srgbClr val="005825"/>
                </a:solidFill>
              </a:rPr>
              <a:t>操作系统实验</a:t>
            </a:r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1876" y="4919173"/>
            <a:ext cx="3102123" cy="1938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8" name="Picture 10" descr="C:\Users\SZH\Downloads\gif图片下载\gif图片下载\校徽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55" y="198640"/>
            <a:ext cx="1119710" cy="1043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79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</a:rPr>
              <a:t>CONTENT</a:t>
            </a:r>
            <a:endParaRPr lang="zh-CN" altLang="en-US" b="1" dirty="0">
              <a:latin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976838"/>
            <a:ext cx="8280000" cy="50636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实验目的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实验安排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实验环境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实验考核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实验参考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405-CE62-418F-9683-85B6A1C55A4B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53C152B-B7F6-46A4-BA24-9BBE275B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819" y="6356351"/>
            <a:ext cx="1879341" cy="288990"/>
          </a:xfrm>
        </p:spPr>
        <p:txBody>
          <a:bodyPr/>
          <a:lstStyle/>
          <a:p>
            <a:r>
              <a:rPr lang="en-US" altLang="zh-CN" dirty="0"/>
              <a:t>           </a:t>
            </a:r>
            <a:r>
              <a:rPr lang="zh-CN" altLang="en-US" dirty="0"/>
              <a:t>操作系统实验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7948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</a:rPr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976839"/>
            <a:ext cx="8280000" cy="6060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</a:rPr>
              <a:t>编译内核</a:t>
            </a:r>
            <a:r>
              <a:rPr lang="en-US" altLang="zh-CN" sz="2000" dirty="0">
                <a:latin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</a:rPr>
              <a:t>利用已有内核构建</a:t>
            </a:r>
            <a:r>
              <a:rPr lang="en-US" altLang="zh-CN" sz="2000" dirty="0">
                <a:latin typeface="微软雅黑" panose="020B0503020204020204" pitchFamily="34" charset="-122"/>
              </a:rPr>
              <a:t>OS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405-CE62-418F-9683-85B6A1C55A4B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53C152B-B7F6-46A4-BA24-9BBE275B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819" y="6356351"/>
            <a:ext cx="1879341" cy="288990"/>
          </a:xfrm>
        </p:spPr>
        <p:txBody>
          <a:bodyPr/>
          <a:lstStyle/>
          <a:p>
            <a:r>
              <a:rPr lang="en-US" altLang="zh-CN" dirty="0"/>
              <a:t>           </a:t>
            </a:r>
            <a:r>
              <a:rPr lang="zh-CN" altLang="en-US" dirty="0"/>
              <a:t>操作系统实验</a:t>
            </a:r>
            <a:endParaRPr lang="en-US" altLang="zh-CN" dirty="0"/>
          </a:p>
        </p:txBody>
      </p:sp>
      <p:pic>
        <p:nvPicPr>
          <p:cNvPr id="7" name="Picture 1" descr="page1image52917040">
            <a:extLst>
              <a:ext uri="{FF2B5EF4-FFF2-40B4-BE49-F238E27FC236}">
                <a16:creationId xmlns:a16="http://schemas.microsoft.com/office/drawing/2014/main" id="{49D85B77-A23C-F64B-1E9F-4FA8C1FFB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2347" y="1819293"/>
            <a:ext cx="6690950" cy="321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23B510D-673B-B21F-5A14-2A66F4FF8F39}"/>
              </a:ext>
            </a:extLst>
          </p:cNvPr>
          <p:cNvSpPr txBox="1"/>
          <p:nvPr/>
        </p:nvSpPr>
        <p:spPr>
          <a:xfrm>
            <a:off x="1277471" y="5352077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OS</a:t>
            </a:r>
            <a:r>
              <a:rPr kumimoji="1" lang="zh-CN" altLang="en-US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原理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3FEF23-D753-3798-C186-6BA50E08C673}"/>
              </a:ext>
            </a:extLst>
          </p:cNvPr>
          <p:cNvSpPr txBox="1"/>
          <p:nvPr/>
        </p:nvSpPr>
        <p:spPr>
          <a:xfrm>
            <a:off x="2472947" y="5305144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OS</a:t>
            </a:r>
            <a:r>
              <a:rPr kumimoji="1" lang="zh-CN" altLang="en-US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模仿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CD1214-EE48-B755-45B6-9A832ADADE4C}"/>
              </a:ext>
            </a:extLst>
          </p:cNvPr>
          <p:cNvSpPr txBox="1"/>
          <p:nvPr/>
        </p:nvSpPr>
        <p:spPr>
          <a:xfrm>
            <a:off x="3513401" y="5312195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OS</a:t>
            </a:r>
            <a:r>
              <a:rPr kumimoji="1" lang="zh-CN" altLang="en-US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设计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9D1307-1661-C8E9-DA6A-3EF45B208992}"/>
              </a:ext>
            </a:extLst>
          </p:cNvPr>
          <p:cNvSpPr txBox="1"/>
          <p:nvPr/>
        </p:nvSpPr>
        <p:spPr>
          <a:xfrm>
            <a:off x="4778843" y="5312195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OS</a:t>
            </a:r>
            <a:r>
              <a:rPr kumimoji="1" lang="zh-CN" altLang="en-US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EE345A-3A04-0114-36F9-E75FF7808CF4}"/>
              </a:ext>
            </a:extLst>
          </p:cNvPr>
          <p:cNvSpPr txBox="1"/>
          <p:nvPr/>
        </p:nvSpPr>
        <p:spPr>
          <a:xfrm>
            <a:off x="5687778" y="5275119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OS</a:t>
            </a:r>
            <a:r>
              <a:rPr kumimoji="1" lang="zh-CN" altLang="en-US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展示</a:t>
            </a:r>
          </a:p>
        </p:txBody>
      </p:sp>
      <p:cxnSp>
        <p:nvCxnSpPr>
          <p:cNvPr id="13" name="直线箭头连接符 14">
            <a:extLst>
              <a:ext uri="{FF2B5EF4-FFF2-40B4-BE49-F238E27FC236}">
                <a16:creationId xmlns:a16="http://schemas.microsoft.com/office/drawing/2014/main" id="{DA3A1B32-52D0-AD28-B2DA-1F78A9531702}"/>
              </a:ext>
            </a:extLst>
          </p:cNvPr>
          <p:cNvCxnSpPr>
            <a:cxnSpLocks/>
          </p:cNvCxnSpPr>
          <p:nvPr/>
        </p:nvCxnSpPr>
        <p:spPr>
          <a:xfrm>
            <a:off x="1701053" y="4664710"/>
            <a:ext cx="0" cy="49600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4">
            <a:extLst>
              <a:ext uri="{FF2B5EF4-FFF2-40B4-BE49-F238E27FC236}">
                <a16:creationId xmlns:a16="http://schemas.microsoft.com/office/drawing/2014/main" id="{6628158C-831A-0A31-72C5-E5FDADCFF166}"/>
              </a:ext>
            </a:extLst>
          </p:cNvPr>
          <p:cNvCxnSpPr>
            <a:cxnSpLocks/>
          </p:cNvCxnSpPr>
          <p:nvPr/>
        </p:nvCxnSpPr>
        <p:spPr>
          <a:xfrm>
            <a:off x="2879365" y="4664710"/>
            <a:ext cx="0" cy="49600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D775C507-70D7-5574-2437-4C1C506043EF}"/>
              </a:ext>
            </a:extLst>
          </p:cNvPr>
          <p:cNvCxnSpPr>
            <a:cxnSpLocks/>
          </p:cNvCxnSpPr>
          <p:nvPr/>
        </p:nvCxnSpPr>
        <p:spPr>
          <a:xfrm>
            <a:off x="3786932" y="4664710"/>
            <a:ext cx="0" cy="49600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4">
            <a:extLst>
              <a:ext uri="{FF2B5EF4-FFF2-40B4-BE49-F238E27FC236}">
                <a16:creationId xmlns:a16="http://schemas.microsoft.com/office/drawing/2014/main" id="{CE137E8F-C0A4-1CF0-DA3B-B3FCAFE52DD7}"/>
              </a:ext>
            </a:extLst>
          </p:cNvPr>
          <p:cNvCxnSpPr>
            <a:cxnSpLocks/>
          </p:cNvCxnSpPr>
          <p:nvPr/>
        </p:nvCxnSpPr>
        <p:spPr>
          <a:xfrm>
            <a:off x="5099059" y="4790705"/>
            <a:ext cx="0" cy="49600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4">
            <a:extLst>
              <a:ext uri="{FF2B5EF4-FFF2-40B4-BE49-F238E27FC236}">
                <a16:creationId xmlns:a16="http://schemas.microsoft.com/office/drawing/2014/main" id="{2DEFD5AC-A894-90E1-8FB9-E5380DE86312}"/>
              </a:ext>
            </a:extLst>
          </p:cNvPr>
          <p:cNvCxnSpPr>
            <a:cxnSpLocks/>
          </p:cNvCxnSpPr>
          <p:nvPr/>
        </p:nvCxnSpPr>
        <p:spPr>
          <a:xfrm>
            <a:off x="6076650" y="3326178"/>
            <a:ext cx="0" cy="171252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947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</a:rPr>
              <a:t>实验安排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405-CE62-418F-9683-85B6A1C55A4B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53C152B-B7F6-46A4-BA24-9BBE275B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819" y="6356351"/>
            <a:ext cx="1879341" cy="288990"/>
          </a:xfrm>
        </p:spPr>
        <p:txBody>
          <a:bodyPr/>
          <a:lstStyle/>
          <a:p>
            <a:r>
              <a:rPr lang="en-US" altLang="zh-CN" dirty="0"/>
              <a:t>           </a:t>
            </a:r>
            <a:r>
              <a:rPr lang="zh-CN" altLang="en-US" dirty="0"/>
              <a:t>操作系统实验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BAD847-3C89-AC53-A610-361EF55785D5}"/>
              </a:ext>
            </a:extLst>
          </p:cNvPr>
          <p:cNvSpPr txBox="1"/>
          <p:nvPr/>
        </p:nvSpPr>
        <p:spPr>
          <a:xfrm>
            <a:off x="432000" y="1708169"/>
            <a:ext cx="68720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    </a:t>
            </a:r>
            <a:r>
              <a:rPr lang="zh-CN" altLang="en-US" sz="180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本实验课程主要根据操作系统原理课程所讲授的原理知识</a:t>
            </a:r>
            <a:r>
              <a:rPr lang="en-US" altLang="zh-CN" sz="180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,</a:t>
            </a:r>
            <a:r>
              <a:rPr lang="zh-CN" altLang="en-US" sz="180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进行实验，从</a:t>
            </a:r>
            <a:r>
              <a:rPr lang="en-US" altLang="zh-CN" sz="180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0</a:t>
            </a:r>
            <a:r>
              <a:rPr lang="zh-CN" altLang="en-US" sz="180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设计与实现面向</a:t>
            </a:r>
            <a:r>
              <a:rPr lang="en-US" altLang="zh-CN" sz="180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i386</a:t>
            </a:r>
            <a:r>
              <a:rPr lang="zh-CN" altLang="en-US" sz="180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32</a:t>
            </a:r>
            <a:r>
              <a:rPr lang="zh-CN" altLang="en-US" sz="180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位）平台的原型操作系统。涉及的内容包括：</a:t>
            </a:r>
            <a:r>
              <a:rPr lang="zh-CN" altLang="en-US" sz="1800" b="1" i="1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内核、启动、</a:t>
            </a:r>
            <a:r>
              <a:rPr lang="en-US" altLang="zh-CN" sz="1800" b="1" i="1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I/O</a:t>
            </a:r>
            <a:r>
              <a:rPr lang="zh-CN" altLang="en-US" sz="1800" b="1" i="1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、中断、虚拟存储、</a:t>
            </a:r>
            <a:r>
              <a:rPr lang="en-US" altLang="zh-CN" sz="1800" b="1" i="1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CPU</a:t>
            </a:r>
            <a:r>
              <a:rPr lang="zh-CN" altLang="en-US" sz="1800" b="1" i="1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调度、多线程并发、文件系统、</a:t>
            </a:r>
            <a:r>
              <a:rPr lang="en-US" altLang="zh-CN" sz="1800" b="1" i="1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Shell</a:t>
            </a:r>
            <a:r>
              <a:rPr lang="zh-CN" altLang="en-US" sz="1800" b="1" i="1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、多租户</a:t>
            </a:r>
            <a:r>
              <a:rPr lang="zh-CN" altLang="en-US" sz="180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等多方面的内容。实验包括以下</a:t>
            </a:r>
            <a:r>
              <a:rPr lang="en-US" altLang="zh-CN" sz="180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8</a:t>
            </a:r>
            <a:r>
              <a:rPr lang="zh-CN" altLang="en-US" sz="1800" dirty="0">
                <a:solidFill>
                  <a:srgbClr val="00000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个部分：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E17BDF-0343-BF62-B08E-12770AC16B4C}"/>
              </a:ext>
            </a:extLst>
          </p:cNvPr>
          <p:cNvSpPr txBox="1"/>
          <p:nvPr/>
        </p:nvSpPr>
        <p:spPr>
          <a:xfrm>
            <a:off x="968674" y="3473007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编译内核</a:t>
            </a: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利用已有内核构建</a:t>
            </a: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OS</a:t>
            </a: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实模式和保护模式下</a:t>
            </a: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OS</a:t>
            </a: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启动；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OS</a:t>
            </a: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中断</a:t>
            </a: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异常；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物理内存管理；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虚拟内存管理；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内核模式线程管理；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用户模式线程管理；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系统调用；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7076A85-B1D4-2735-D2DF-8B5C6711EFCB}"/>
              </a:ext>
            </a:extLst>
          </p:cNvPr>
          <p:cNvSpPr txBox="1"/>
          <p:nvPr/>
        </p:nvSpPr>
        <p:spPr>
          <a:xfrm>
            <a:off x="432000" y="992459"/>
            <a:ext cx="4240361" cy="46166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总体实验安排</a:t>
            </a:r>
          </a:p>
        </p:txBody>
      </p:sp>
    </p:spTree>
    <p:extLst>
      <p:ext uri="{BB962C8B-B14F-4D97-AF65-F5344CB8AC3E}">
        <p14:creationId xmlns:p14="http://schemas.microsoft.com/office/powerpoint/2010/main" val="636566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</a:rPr>
              <a:t>实验环境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818700"/>
            <a:ext cx="8422831" cy="506360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/>
              <a:t>推荐以下环境和工具</a:t>
            </a:r>
            <a:endParaRPr lang="en-US" altLang="zh-CN" sz="2200" dirty="0"/>
          </a:p>
          <a:p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1.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操作系统</a:t>
            </a:r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Ubuntu(64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位</a:t>
            </a:r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endParaRPr lang="en-US" altLang="zh-CN" sz="19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2.Windows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主机虚拟化软件</a:t>
            </a:r>
            <a:r>
              <a:rPr lang="en-US" altLang="zh-CN" sz="19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Virtualbox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endParaRPr lang="en-US" altLang="zh-CN" sz="19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3.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代码编辑环境：</a:t>
            </a:r>
            <a:r>
              <a:rPr lang="en-US" altLang="zh-CN" sz="19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Vscode+nasm+C</a:t>
            </a:r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/C++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插件；</a:t>
            </a:r>
            <a:endParaRPr lang="en-US" altLang="zh-CN" sz="19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4.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汇编编译器：</a:t>
            </a:r>
            <a:r>
              <a:rPr lang="en-US" altLang="zh-CN" sz="19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nasm</a:t>
            </a:r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32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位汇编）；</a:t>
            </a:r>
            <a:endParaRPr lang="en-US" altLang="zh-CN" sz="19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5.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C/C++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编译器：</a:t>
            </a:r>
            <a:r>
              <a:rPr lang="en-US" altLang="zh-CN" sz="19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gcc</a:t>
            </a:r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/g++ 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64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位）；</a:t>
            </a:r>
            <a:endParaRPr lang="en-US" altLang="zh-CN" sz="19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6.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装载工具</a:t>
            </a:r>
            <a:r>
              <a:rPr lang="en-US" altLang="zh-CN" sz="19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ld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64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位）；</a:t>
            </a:r>
            <a:endParaRPr lang="en-US" altLang="zh-CN" sz="19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7. ELF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分析工具</a:t>
            </a:r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  <a:r>
              <a:rPr lang="en-US" altLang="zh-CN" sz="19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readelf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endParaRPr lang="en-US" altLang="zh-CN" sz="19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8. 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反汇编：</a:t>
            </a:r>
            <a:r>
              <a:rPr lang="en-US" altLang="zh-CN" sz="19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objdump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endParaRPr lang="en-US" altLang="zh-CN" sz="19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9. 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调试工具：</a:t>
            </a:r>
            <a:r>
              <a:rPr lang="en-US" altLang="zh-CN" sz="19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gdb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endParaRPr lang="en-US" altLang="zh-CN" sz="19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10. 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写磁盘文件工具：</a:t>
            </a:r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dd</a:t>
            </a:r>
          </a:p>
          <a:p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11. Make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工具：</a:t>
            </a:r>
            <a:r>
              <a:rPr lang="en-US" altLang="zh-CN" sz="19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cmake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endParaRPr lang="en-US" altLang="zh-CN" sz="19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12. 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运行工具：</a:t>
            </a:r>
            <a:r>
              <a:rPr lang="en-US" altLang="zh-CN" sz="19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qemu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32</a:t>
            </a:r>
            <a:r>
              <a:rPr lang="zh-CN" altLang="en-US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位）；</a:t>
            </a:r>
            <a:r>
              <a:rPr lang="en-US" altLang="zh-CN" sz="19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405-CE62-418F-9683-85B6A1C55A4B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53C152B-B7F6-46A4-BA24-9BBE275B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819" y="6356351"/>
            <a:ext cx="1879341" cy="288990"/>
          </a:xfrm>
        </p:spPr>
        <p:txBody>
          <a:bodyPr/>
          <a:lstStyle/>
          <a:p>
            <a:r>
              <a:rPr lang="en-US" altLang="zh-CN" dirty="0"/>
              <a:t>           </a:t>
            </a:r>
            <a:r>
              <a:rPr lang="zh-CN" altLang="en-US" dirty="0"/>
              <a:t>操作系统实验</a:t>
            </a:r>
            <a:endParaRPr lang="en-US" altLang="zh-C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4632183-80BF-462E-B46E-1E7CF27BF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14" y="3570211"/>
            <a:ext cx="65" cy="3154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3808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84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</a:rPr>
              <a:t>实验考核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999" y="976838"/>
            <a:ext cx="8422831" cy="506360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不限语言，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C/C++/Rust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都可以；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不限平台，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Windows/Linux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都可以；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不限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CPU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ARM/Intel/</a:t>
            </a:r>
            <a:r>
              <a:rPr lang="en-US" altLang="zh-CN" sz="2400" dirty="0" err="1">
                <a:latin typeface="仿宋" panose="02010609060101010101" pitchFamily="49" charset="-122"/>
                <a:ea typeface="仿宋" panose="02010609060101010101" pitchFamily="49" charset="-122"/>
              </a:rPr>
              <a:t>Risc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-V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都可以；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实现原型操作系统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32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位以上；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实现实验所要求的的功能；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提供实验报告、源码、运行截屏；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根据完成实验的数量和质量打分，参考已有源码但是没有任何修改，报告详细完整可以得到基本分数；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可以将现有的参考实现如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Xv6, </a:t>
            </a:r>
            <a:r>
              <a:rPr lang="en-US" altLang="zh-CN" sz="2400" dirty="0" err="1">
                <a:latin typeface="仿宋" panose="02010609060101010101" pitchFamily="49" charset="-122"/>
                <a:ea typeface="仿宋" panose="02010609060101010101" pitchFamily="49" charset="-122"/>
              </a:rPr>
              <a:t>uCore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等改造成其他架构如将</a:t>
            </a:r>
            <a:r>
              <a:rPr lang="en-US" altLang="zh-CN" sz="2400" dirty="0" err="1">
                <a:latin typeface="仿宋" panose="02010609060101010101" pitchFamily="49" charset="-122"/>
                <a:ea typeface="仿宋" panose="02010609060101010101" pitchFamily="49" charset="-122"/>
              </a:rPr>
              <a:t>uCore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运行在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ARM64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上等；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405-CE62-418F-9683-85B6A1C55A4B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53C152B-B7F6-46A4-BA24-9BBE275B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819" y="6356351"/>
            <a:ext cx="1879341" cy="288990"/>
          </a:xfrm>
        </p:spPr>
        <p:txBody>
          <a:bodyPr/>
          <a:lstStyle/>
          <a:p>
            <a:r>
              <a:rPr lang="en-US" altLang="zh-CN" dirty="0"/>
              <a:t>           </a:t>
            </a:r>
            <a:r>
              <a:rPr lang="zh-CN" altLang="en-US" dirty="0"/>
              <a:t>操作系统实验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92827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</a:rPr>
              <a:t>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999" y="976838"/>
            <a:ext cx="8422831" cy="5063602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清华大学</a:t>
            </a:r>
            <a:r>
              <a:rPr lang="en-US" altLang="zh-CN" dirty="0"/>
              <a:t>: </a:t>
            </a:r>
            <a:r>
              <a:rPr lang="zh-CN" altLang="en-US" dirty="0"/>
              <a:t>操作系统实验指导，</a:t>
            </a:r>
            <a:r>
              <a:rPr lang="en-US" altLang="zh-CN" dirty="0">
                <a:hlinkClick r:id="rId2"/>
              </a:rPr>
              <a:t>https://github.com/kiukotsu/ucore</a:t>
            </a:r>
            <a:r>
              <a:rPr lang="zh-CN" altLang="en-US" dirty="0">
                <a:hlinkClick r:id="rId2"/>
              </a:rPr>
              <a:t>；</a:t>
            </a:r>
            <a:r>
              <a:rPr lang="en-US" altLang="zh-CN" dirty="0">
                <a:hlinkClick r:id="rId2"/>
              </a:rPr>
              <a:t>https://objectkuan.gitbooks.io/ucore-docs/content/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XV6</a:t>
            </a:r>
            <a:r>
              <a:rPr lang="zh-CN" altLang="en-US" dirty="0"/>
              <a:t>中文文档：</a:t>
            </a:r>
            <a:r>
              <a:rPr lang="en-US" altLang="zh-CN" dirty="0">
                <a:hlinkClick r:id="rId3"/>
              </a:rPr>
              <a:t>https://th0ar.gitbooks.io/xv6-chinese/content/</a:t>
            </a:r>
            <a:r>
              <a:rPr lang="en-US" altLang="zh-CN" dirty="0"/>
              <a:t>;</a:t>
            </a:r>
          </a:p>
          <a:p>
            <a:pPr marL="342900" indent="-342900">
              <a:buAutoNum type="arabicPeriod"/>
            </a:pPr>
            <a:r>
              <a:rPr lang="en-US" altLang="zh-CN" dirty="0">
                <a:hlinkClick r:id="rId4"/>
              </a:rPr>
              <a:t>https://github.com/ranxian/xv6-Chinese</a:t>
            </a:r>
            <a:r>
              <a:rPr lang="en-US" altLang="zh-CN" dirty="0"/>
              <a:t>;</a:t>
            </a:r>
          </a:p>
          <a:p>
            <a:pPr marL="342900" indent="-342900">
              <a:buAutoNum type="arabicPeriod"/>
            </a:pPr>
            <a:r>
              <a:rPr lang="en-US" altLang="zh-CN" dirty="0"/>
              <a:t>OSTEP</a:t>
            </a:r>
            <a:r>
              <a:rPr lang="zh-CN" altLang="en-US" dirty="0"/>
              <a:t>实验参考：</a:t>
            </a:r>
            <a:r>
              <a:rPr lang="en-US" altLang="zh-CN" dirty="0">
                <a:hlinkClick r:id="rId5"/>
              </a:rPr>
              <a:t>https://github.com/remzi-arpacidusseau/ostep-projects</a:t>
            </a:r>
            <a:r>
              <a:rPr lang="en-US" altLang="zh-CN" dirty="0"/>
              <a:t>;</a:t>
            </a:r>
          </a:p>
          <a:p>
            <a:pPr marL="342900" indent="-342900">
              <a:buAutoNum type="arabicPeriod"/>
            </a:pPr>
            <a:r>
              <a:rPr lang="zh-CN" altLang="en-US" dirty="0"/>
              <a:t>汇编语言编程：</a:t>
            </a:r>
            <a:r>
              <a:rPr lang="en-US" altLang="zh-CN" dirty="0">
                <a:hlinkClick r:id="rId6"/>
              </a:rPr>
              <a:t>http://c.biancheng.net/asm/10/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Linux Kernel: </a:t>
            </a:r>
            <a:r>
              <a:rPr lang="en-US" altLang="zh-CN" dirty="0">
                <a:hlinkClick r:id="rId7"/>
              </a:rPr>
              <a:t>https://www.kernel.org/</a:t>
            </a:r>
            <a:r>
              <a:rPr lang="en-US" altLang="zh-CN" dirty="0"/>
              <a:t>;</a:t>
            </a:r>
          </a:p>
          <a:p>
            <a:pPr marL="342900" indent="-342900">
              <a:buAutoNum type="arabicPeriod"/>
            </a:pPr>
            <a:r>
              <a:rPr lang="en-US" altLang="zh-CN" dirty="0" err="1"/>
              <a:t>MikeOS</a:t>
            </a:r>
            <a:r>
              <a:rPr lang="en-US" altLang="zh-CN" dirty="0"/>
              <a:t>: </a:t>
            </a:r>
            <a:r>
              <a:rPr lang="en-US" altLang="zh-CN" dirty="0">
                <a:hlinkClick r:id="rId8"/>
              </a:rPr>
              <a:t>http://mikeos.sourceforge.net/</a:t>
            </a:r>
            <a:r>
              <a:rPr lang="en-US" altLang="zh-CN" dirty="0"/>
              <a:t>; </a:t>
            </a:r>
            <a:r>
              <a:rPr lang="en-US" altLang="zh-CN" dirty="0">
                <a:hlinkClick r:id="rId9"/>
              </a:rPr>
              <a:t>http://mikeos.sourceforge.net/write-your-own-os.html</a:t>
            </a:r>
            <a:r>
              <a:rPr lang="en-US" altLang="zh-CN" dirty="0"/>
              <a:t>;</a:t>
            </a:r>
          </a:p>
          <a:p>
            <a:pPr marL="342900" indent="-342900">
              <a:buAutoNum type="arabicPeriod"/>
            </a:pPr>
            <a:r>
              <a:rPr lang="en-US" altLang="zh-CN" b="1" i="0" u="none" strike="noStrike" dirty="0">
                <a:effectLst/>
                <a:latin typeface="-apple-system"/>
                <a:hlinkClick r:id="rId10"/>
              </a:rPr>
              <a:t>rust-</a:t>
            </a:r>
            <a:r>
              <a:rPr lang="en-US" altLang="zh-CN" b="1" i="0" u="none" strike="noStrike" dirty="0" err="1">
                <a:effectLst/>
                <a:latin typeface="-apple-system"/>
                <a:hlinkClick r:id="rId10"/>
              </a:rPr>
              <a:t>raspberrypi</a:t>
            </a:r>
            <a:r>
              <a:rPr lang="en-US" altLang="zh-CN" b="1" i="0" u="none" strike="noStrike" dirty="0">
                <a:effectLst/>
                <a:latin typeface="-apple-system"/>
                <a:hlinkClick r:id="rId10"/>
              </a:rPr>
              <a:t>-OS-tutorials</a:t>
            </a:r>
            <a:r>
              <a:rPr lang="en-US" altLang="zh-CN" b="1" i="0" u="none" strike="noStrike" dirty="0">
                <a:effectLst/>
                <a:latin typeface="-apple-system"/>
              </a:rPr>
              <a:t>, </a:t>
            </a:r>
            <a:r>
              <a:rPr lang="en-US" altLang="zh-CN" b="1" i="0" u="none" strike="noStrike" dirty="0">
                <a:effectLst/>
                <a:latin typeface="-apple-system"/>
                <a:hlinkClick r:id="rId10"/>
              </a:rPr>
              <a:t>https://github.com/rust-embedded/rust-raspberrypi-OS-tutorials</a:t>
            </a:r>
            <a:r>
              <a:rPr lang="en-US" altLang="zh-CN" b="1" i="0" u="none" strike="noStrike" dirty="0">
                <a:effectLst/>
                <a:latin typeface="-apple-system"/>
              </a:rPr>
              <a:t>;</a:t>
            </a:r>
          </a:p>
          <a:p>
            <a:pPr marL="342900" indent="-342900">
              <a:buAutoNum type="arabicPeriod"/>
            </a:pPr>
            <a:r>
              <a:rPr lang="en-US" altLang="zh-CN" b="1" dirty="0">
                <a:latin typeface="-apple-system"/>
              </a:rPr>
              <a:t>Writing an OS in Rust: </a:t>
            </a:r>
            <a:r>
              <a:rPr lang="en-US" altLang="zh-CN" b="1" dirty="0">
                <a:latin typeface="-apple-system"/>
                <a:hlinkClick r:id="rId11"/>
              </a:rPr>
              <a:t>https://os.phil-opp.com/</a:t>
            </a:r>
            <a:r>
              <a:rPr lang="en-US" altLang="zh-CN" b="1" dirty="0">
                <a:latin typeface="-apple-system"/>
              </a:rPr>
              <a:t>; </a:t>
            </a:r>
          </a:p>
          <a:p>
            <a:pPr marL="342900" indent="-342900">
              <a:buAutoNum type="arabicPeriod"/>
            </a:pPr>
            <a:r>
              <a:rPr lang="zh-CN" altLang="en-US" dirty="0"/>
              <a:t>使用</a:t>
            </a:r>
            <a:r>
              <a:rPr lang="en-US" altLang="zh-CN" dirty="0"/>
              <a:t>Rust</a:t>
            </a:r>
            <a:r>
              <a:rPr lang="zh-CN" altLang="en-US" dirty="0"/>
              <a:t>写</a:t>
            </a:r>
            <a:r>
              <a:rPr lang="en-US" altLang="zh-CN" dirty="0"/>
              <a:t>OS: </a:t>
            </a:r>
            <a:r>
              <a:rPr lang="en-US" altLang="zh-CN" dirty="0">
                <a:hlinkClick r:id="rId12"/>
              </a:rPr>
              <a:t>https://12101111.github.io/write-os-in-rust/</a:t>
            </a:r>
            <a:r>
              <a:rPr lang="en-US" altLang="zh-CN" dirty="0"/>
              <a:t>;</a:t>
            </a:r>
          </a:p>
          <a:p>
            <a:pPr marL="342900" indent="-342900">
              <a:buAutoNum type="arabicPeriod"/>
            </a:pPr>
            <a:r>
              <a:rPr lang="en-US" altLang="zh-CN" dirty="0"/>
              <a:t> OS-tutorial: </a:t>
            </a:r>
            <a:r>
              <a:rPr lang="en-US" altLang="zh-CN" dirty="0">
                <a:hlinkClick r:id="rId13"/>
              </a:rPr>
              <a:t>https://github.com/cfenollosa/os-tutorial</a:t>
            </a:r>
            <a:r>
              <a:rPr lang="en-US" altLang="zh-CN" dirty="0"/>
              <a:t>;</a:t>
            </a:r>
          </a:p>
          <a:p>
            <a:pPr marL="342900" indent="-342900">
              <a:buAutoNum type="arabicPeriod"/>
            </a:pPr>
            <a:r>
              <a:rPr lang="en-US" altLang="zh-CN" dirty="0"/>
              <a:t>Xv6 code: </a:t>
            </a:r>
            <a:r>
              <a:rPr lang="en-US" altLang="zh-CN" dirty="0">
                <a:hlinkClick r:id="rId14"/>
              </a:rPr>
              <a:t>https://github.com/mit-pdos/xv6-public</a:t>
            </a:r>
            <a:r>
              <a:rPr lang="en-US" altLang="zh-CN" dirty="0"/>
              <a:t>;</a:t>
            </a:r>
          </a:p>
          <a:p>
            <a:pPr marL="342900" indent="-342900">
              <a:buFontTx/>
              <a:buAutoNum type="arabicPeriod"/>
            </a:pPr>
            <a:r>
              <a:rPr lang="en-US" altLang="zh-CN" b="0" i="0" dirty="0">
                <a:solidFill>
                  <a:srgbClr val="24292E"/>
                </a:solidFill>
                <a:effectLst/>
                <a:latin typeface="-apple-system"/>
              </a:rPr>
              <a:t>Redox OS:  </a:t>
            </a:r>
            <a:r>
              <a:rPr lang="en-US" altLang="zh-CN" b="0" i="0" dirty="0">
                <a:solidFill>
                  <a:srgbClr val="24292E"/>
                </a:solidFill>
                <a:effectLst/>
                <a:latin typeface="-apple-system"/>
                <a:hlinkClick r:id="rId15"/>
              </a:rPr>
              <a:t>https://github.com/redox-os</a:t>
            </a:r>
            <a:r>
              <a:rPr lang="en-US" altLang="zh-CN" b="0" i="0" dirty="0">
                <a:solidFill>
                  <a:srgbClr val="24292E"/>
                </a:solidFill>
                <a:effectLst/>
                <a:latin typeface="-apple-system"/>
              </a:rPr>
              <a:t>;</a:t>
            </a:r>
          </a:p>
          <a:p>
            <a:pPr marL="342900" indent="-342900">
              <a:buFontTx/>
              <a:buAutoNum type="arabicPeriod"/>
            </a:pPr>
            <a:r>
              <a:rPr lang="en-US" altLang="zh-CN" dirty="0">
                <a:solidFill>
                  <a:srgbClr val="24292E"/>
                </a:solidFill>
                <a:latin typeface="-apple-system"/>
              </a:rPr>
              <a:t> </a:t>
            </a:r>
            <a:r>
              <a:rPr lang="zh-CN" altLang="en-US" dirty="0">
                <a:solidFill>
                  <a:srgbClr val="24292E"/>
                </a:solidFill>
                <a:latin typeface="-apple-system"/>
              </a:rPr>
              <a:t>中山大学张钧宇：</a:t>
            </a:r>
            <a:r>
              <a:rPr lang="en-US" altLang="zh-CN" dirty="0" err="1">
                <a:solidFill>
                  <a:srgbClr val="24292E"/>
                </a:solidFill>
                <a:latin typeface="-apple-system"/>
              </a:rPr>
              <a:t>NeXon</a:t>
            </a:r>
            <a:r>
              <a:rPr lang="en-US" altLang="zh-CN" dirty="0">
                <a:solidFill>
                  <a:srgbClr val="24292E"/>
                </a:solidFill>
                <a:latin typeface="-apple-system"/>
              </a:rPr>
              <a:t>-tutorial-private-main, 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405-CE62-418F-9683-85B6A1C55A4B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53C152B-B7F6-46A4-BA24-9BBE275B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819" y="6356351"/>
            <a:ext cx="1879341" cy="288990"/>
          </a:xfrm>
        </p:spPr>
        <p:txBody>
          <a:bodyPr/>
          <a:lstStyle/>
          <a:p>
            <a:r>
              <a:rPr lang="en-US" altLang="zh-CN" dirty="0"/>
              <a:t>           </a:t>
            </a:r>
            <a:r>
              <a:rPr lang="zh-CN" altLang="en-US" dirty="0"/>
              <a:t>操作系统实验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05749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</a:rPr>
              <a:t>实验一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405-CE62-418F-9683-85B6A1C55A4B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53C152B-B7F6-46A4-BA24-9BBE275B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819" y="6356351"/>
            <a:ext cx="1879341" cy="288990"/>
          </a:xfrm>
        </p:spPr>
        <p:txBody>
          <a:bodyPr/>
          <a:lstStyle/>
          <a:p>
            <a:r>
              <a:rPr lang="en-US" altLang="zh-CN" dirty="0"/>
              <a:t>           </a:t>
            </a:r>
            <a:r>
              <a:rPr lang="zh-CN" altLang="en-US" dirty="0"/>
              <a:t>操作系统实验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AF094D-48C9-CD4F-26C9-5C130AE1CF1C}"/>
              </a:ext>
            </a:extLst>
          </p:cNvPr>
          <p:cNvSpPr txBox="1"/>
          <p:nvPr/>
        </p:nvSpPr>
        <p:spPr>
          <a:xfrm>
            <a:off x="432000" y="1438345"/>
            <a:ext cx="8458200" cy="369332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实验</a:t>
            </a:r>
            <a:r>
              <a:rPr lang="en-US" altLang="zh-CN" b="1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-1</a:t>
            </a:r>
            <a:r>
              <a:rPr lang="zh-CN" altLang="en-US" b="1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： 编译内核利用已有内核构建</a:t>
            </a:r>
            <a:r>
              <a:rPr lang="en-US" altLang="zh-CN" b="1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OS</a:t>
            </a:r>
            <a:endParaRPr lang="zh-CN" altLang="en-US" b="1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A01FDA-E1F5-35F1-A59D-93AC69B8DF5E}"/>
              </a:ext>
            </a:extLst>
          </p:cNvPr>
          <p:cNvSpPr/>
          <p:nvPr/>
        </p:nvSpPr>
        <p:spPr>
          <a:xfrm>
            <a:off x="432000" y="1807677"/>
            <a:ext cx="8458200" cy="153566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熟悉现有</a:t>
            </a:r>
            <a:r>
              <a:rPr lang="en-US" altLang="zh-CN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Linux</a:t>
            </a:r>
            <a:r>
              <a:rPr lang="zh-CN" altLang="en-US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内核的编译过程和启动过程，并在自行编译内核的基础上构建简单应用并启动；利用精简的</a:t>
            </a:r>
            <a:r>
              <a:rPr lang="en-US" altLang="zh-CN" sz="24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Busybox</a:t>
            </a:r>
            <a:r>
              <a:rPr lang="zh-CN" altLang="en-US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工具集构建简单的</a:t>
            </a:r>
            <a:r>
              <a:rPr lang="en-US" altLang="zh-CN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OS</a:t>
            </a:r>
            <a:r>
              <a:rPr lang="zh-CN" altLang="en-US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，熟悉现代操作系统的构建过程。此外，熟悉编译环境、相关工具集，并能够实现内核远程调试；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3D32E5-3EBD-B907-53DA-6D39318AABA6}"/>
              </a:ext>
            </a:extLst>
          </p:cNvPr>
          <p:cNvSpPr txBox="1"/>
          <p:nvPr/>
        </p:nvSpPr>
        <p:spPr>
          <a:xfrm>
            <a:off x="432000" y="3465738"/>
            <a:ext cx="8458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搭建</a:t>
            </a: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OS</a:t>
            </a: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内核开发环境包括：代码编辑环境、编译环境、运行环境、调试环境等；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下载并编译</a:t>
            </a: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i386</a:t>
            </a: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32</a:t>
            </a: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位）内核，并利用</a:t>
            </a:r>
            <a:r>
              <a:rPr lang="en-US" altLang="zh-CN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qemu</a:t>
            </a: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启动内核；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熟悉制作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initramfs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的方法；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编写简单应用程序随内核启动运行；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编译</a:t>
            </a: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i386</a:t>
            </a: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版本的</a:t>
            </a:r>
            <a:r>
              <a:rPr lang="en-US" altLang="zh-CN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Busybox</a:t>
            </a: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，随内核启动，构建简单的</a:t>
            </a: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OS</a:t>
            </a: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开启远程调试功能，进行调试跟踪代码运行；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撰写实验报告；</a:t>
            </a:r>
            <a:r>
              <a:rPr lang="en-US" altLang="zh-CN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endParaRPr lang="zh-CN" altLang="en-US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6507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E69DD-F2F8-DC69-6321-20BF4D54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F0D5F-28CC-E6A9-51D6-D5E216E2F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</a:rPr>
              <a:t>实验一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61C1D2-DC47-F3D8-6983-315356310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405-CE62-418F-9683-85B6A1C55A4B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DA93E44-2381-386D-2C09-4E9D9E312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819" y="6356351"/>
            <a:ext cx="1879341" cy="288990"/>
          </a:xfrm>
        </p:spPr>
        <p:txBody>
          <a:bodyPr/>
          <a:lstStyle/>
          <a:p>
            <a:r>
              <a:rPr lang="en-US" altLang="zh-CN" dirty="0"/>
              <a:t>           </a:t>
            </a:r>
            <a:r>
              <a:rPr lang="zh-CN" altLang="en-US" dirty="0"/>
              <a:t>操作系统实验</a:t>
            </a:r>
            <a:endParaRPr lang="en-US" altLang="zh-CN" dirty="0"/>
          </a:p>
        </p:txBody>
      </p:sp>
      <p:sp>
        <p:nvSpPr>
          <p:cNvPr id="3" name="内容占位符 1">
            <a:extLst>
              <a:ext uri="{FF2B5EF4-FFF2-40B4-BE49-F238E27FC236}">
                <a16:creationId xmlns:a16="http://schemas.microsoft.com/office/drawing/2014/main" id="{F1EEDE94-8FE5-2F22-36FD-D71EE6113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环境配置</a:t>
            </a:r>
            <a:endParaRPr lang="en-US" altLang="zh-CN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非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Linux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环境下载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VirtualBox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，下载安装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Ubuntu18.04</a:t>
            </a: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更换成国内源加快下载工具速度</a:t>
            </a:r>
            <a:endParaRPr lang="en-US" altLang="zh-CN" sz="20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配置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C/C++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环境</a:t>
            </a:r>
            <a:endParaRPr lang="en-US" altLang="zh-CN" sz="20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安装其他工具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熟悉</a:t>
            </a:r>
            <a:r>
              <a:rPr lang="en-US" altLang="zh-CN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Linux</a:t>
            </a:r>
            <a:r>
              <a:rPr lang="zh-CN" altLang="en-US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命令</a:t>
            </a:r>
            <a:endParaRPr lang="en-US" altLang="zh-CN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熟悉</a:t>
            </a:r>
            <a:r>
              <a:rPr lang="en-US" altLang="zh-CN" sz="20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sudo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 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切换成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root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身份执行命令</a:t>
            </a:r>
            <a:endParaRPr lang="en-US" altLang="zh-CN" sz="20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熟悉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apt: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软件包管理器，提供查找，安装，升级，删除等命令</a:t>
            </a:r>
            <a:endParaRPr lang="en-US" altLang="zh-CN" sz="20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熟悉</a:t>
            </a:r>
            <a:r>
              <a:rPr lang="en-US" altLang="zh-CN" sz="20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gedit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启动文本编辑器</a:t>
            </a:r>
            <a:r>
              <a:rPr lang="en-US" altLang="zh-CN" sz="20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gedit</a:t>
            </a:r>
            <a:endParaRPr lang="en-US" altLang="zh-CN" sz="20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熟悉</a:t>
            </a:r>
            <a:r>
              <a:rPr lang="en-US" altLang="zh-CN" sz="20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cpio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建立，备份文件</a:t>
            </a:r>
            <a:endParaRPr lang="en-US" altLang="zh-CN" sz="20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更多参考</a:t>
            </a:r>
            <a:r>
              <a:rPr lang="en-US" altLang="zh-CN" sz="1800" dirty="0">
                <a:hlinkClick r:id="rId2"/>
              </a:rPr>
              <a:t>Linux </a:t>
            </a:r>
            <a:r>
              <a:rPr lang="zh-CN" altLang="en-US" sz="1800" dirty="0">
                <a:hlinkClick r:id="rId2"/>
              </a:rPr>
              <a:t>命令大全 </a:t>
            </a:r>
            <a:r>
              <a:rPr lang="en-US" altLang="zh-CN" sz="1800" dirty="0">
                <a:hlinkClick r:id="rId2"/>
              </a:rPr>
              <a:t>| </a:t>
            </a:r>
            <a:r>
              <a:rPr lang="zh-CN" altLang="en-US" sz="1800" dirty="0">
                <a:hlinkClick r:id="rId2"/>
              </a:rPr>
              <a:t>菜鸟教程 </a:t>
            </a:r>
            <a:r>
              <a:rPr lang="en-US" altLang="zh-CN" sz="1800" dirty="0">
                <a:hlinkClick r:id="rId2"/>
              </a:rPr>
              <a:t>(runoob.com)</a:t>
            </a:r>
            <a:endParaRPr lang="en-US" altLang="zh-CN" sz="18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8205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FCD6-4FC3-D1CF-6BC8-FFFD810FA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8081DB-1CB5-A791-FAB2-AFA4EFF60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</a:rPr>
              <a:t>实验一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F2E9DC-3796-F802-083D-2734C175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405-CE62-418F-9683-85B6A1C55A4B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AF7BBBF-C166-A995-7537-F625319A9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819" y="6356351"/>
            <a:ext cx="1879341" cy="288990"/>
          </a:xfrm>
        </p:spPr>
        <p:txBody>
          <a:bodyPr/>
          <a:lstStyle/>
          <a:p>
            <a:r>
              <a:rPr lang="en-US" altLang="zh-CN" dirty="0"/>
              <a:t>           </a:t>
            </a:r>
            <a:r>
              <a:rPr lang="zh-CN" altLang="en-US" dirty="0"/>
              <a:t>操作系统实验</a:t>
            </a:r>
            <a:endParaRPr lang="en-US" altLang="zh-CN" dirty="0"/>
          </a:p>
        </p:txBody>
      </p:sp>
      <p:sp>
        <p:nvSpPr>
          <p:cNvPr id="3" name="内容占位符 1">
            <a:extLst>
              <a:ext uri="{FF2B5EF4-FFF2-40B4-BE49-F238E27FC236}">
                <a16:creationId xmlns:a16="http://schemas.microsoft.com/office/drawing/2014/main" id="{C76C1A17-CA8D-1479-0091-7E6F24F78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编译</a:t>
            </a:r>
            <a:r>
              <a:rPr lang="en-US" altLang="zh-CN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Linux</a:t>
            </a:r>
            <a:r>
              <a:rPr lang="zh-CN" altLang="en-US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内核</a:t>
            </a:r>
            <a:endParaRPr lang="en-US" altLang="zh-CN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下载内核</a:t>
            </a:r>
            <a:endParaRPr lang="en-US" altLang="zh-CN" sz="20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编译内核</a:t>
            </a:r>
            <a:endParaRPr lang="en-US" altLang="zh-CN" sz="20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257300" lvl="2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利用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i386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配置文件配置内核，该配置在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arch/x86/configs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下面；</a:t>
            </a:r>
            <a:endParaRPr lang="en-US" altLang="zh-CN" sz="20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257300" lvl="2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make i386_defconfig </a:t>
            </a:r>
          </a:p>
          <a:p>
            <a:pPr marL="1257300" lvl="2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make </a:t>
            </a:r>
            <a:r>
              <a:rPr lang="en-US" altLang="zh-CN" sz="20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menuconfig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(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安装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libncurses5-dev)</a:t>
            </a:r>
          </a:p>
          <a:p>
            <a:pPr marL="1257300" lvl="2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开启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debug; (compile the kernel with debug)</a:t>
            </a:r>
          </a:p>
          <a:p>
            <a:pPr marL="1257300" lvl="2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保存退出；</a:t>
            </a:r>
            <a:endParaRPr lang="en-US" altLang="zh-CN" sz="20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257300" lvl="2" indent="-342900"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Make –j4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（时间较长）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;</a:t>
            </a:r>
          </a:p>
          <a:p>
            <a:pPr marL="1257300" lvl="2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找到</a:t>
            </a:r>
            <a:r>
              <a:rPr lang="en-US" altLang="zh-CN" sz="20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linux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压缩镜像：</a:t>
            </a:r>
            <a:r>
              <a:rPr lang="en-US" altLang="zh-CN" sz="20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bzImage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，一般在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arch/x86/boot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下面</a:t>
            </a:r>
            <a:endParaRPr lang="en-US" altLang="zh-CN" sz="20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6534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EED6E-091F-1833-B0A5-80BFD8B47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0A3EB-52A0-07FD-59FA-D55925599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</a:rPr>
              <a:t>实验一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E67FE9-DDEF-EED2-4BCA-6229E94E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405-CE62-418F-9683-85B6A1C55A4B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8FF4CF7-8F9B-5626-91F9-AFEAA84D1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819" y="6356351"/>
            <a:ext cx="1879341" cy="288990"/>
          </a:xfrm>
        </p:spPr>
        <p:txBody>
          <a:bodyPr/>
          <a:lstStyle/>
          <a:p>
            <a:r>
              <a:rPr lang="en-US" altLang="zh-CN" dirty="0"/>
              <a:t>           </a:t>
            </a:r>
            <a:r>
              <a:rPr lang="zh-CN" altLang="en-US" dirty="0"/>
              <a:t>操作系统实验</a:t>
            </a:r>
            <a:endParaRPr lang="en-US" altLang="zh-CN" dirty="0"/>
          </a:p>
        </p:txBody>
      </p:sp>
      <p:sp>
        <p:nvSpPr>
          <p:cNvPr id="3" name="内容占位符 1">
            <a:extLst>
              <a:ext uri="{FF2B5EF4-FFF2-40B4-BE49-F238E27FC236}">
                <a16:creationId xmlns:a16="http://schemas.microsoft.com/office/drawing/2014/main" id="{3A4E676B-7991-E1C9-522D-BF001483D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启动内核并调试</a:t>
            </a:r>
            <a:endParaRPr lang="en-US" altLang="zh-CN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sz="20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9DAC5F-BF4E-00F2-A170-0F8B43D32A8C}"/>
              </a:ext>
            </a:extLst>
          </p:cNvPr>
          <p:cNvSpPr txBox="1"/>
          <p:nvPr/>
        </p:nvSpPr>
        <p:spPr>
          <a:xfrm>
            <a:off x="892534" y="2071315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qemu -kernel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bzImage -s -S -append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"console=ttyS0"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–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nographic</a:t>
            </a:r>
            <a:endParaRPr lang="en-US" altLang="zh-CN" sz="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D366C8-E5AD-FB4F-38DB-D9F9B03EEBE0}"/>
              </a:ext>
            </a:extLst>
          </p:cNvPr>
          <p:cNvSpPr txBox="1"/>
          <p:nvPr/>
        </p:nvSpPr>
        <p:spPr>
          <a:xfrm>
            <a:off x="990600" y="2971800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"/>
            </a:pPr>
            <a:r>
              <a:rPr lang="en-US" altLang="zh-CN" sz="24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Gdb</a:t>
            </a:r>
            <a:r>
              <a:rPr lang="zh-CN" altLang="en-US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装载</a:t>
            </a:r>
            <a:r>
              <a:rPr lang="en-US" altLang="zh-CN" sz="24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vmlinux</a:t>
            </a:r>
            <a:r>
              <a:rPr lang="zh-CN" altLang="en-US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进行远程调试；</a:t>
            </a:r>
            <a:endParaRPr lang="en-US" altLang="zh-CN" sz="24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       break </a:t>
            </a:r>
            <a:r>
              <a:rPr lang="en-US" altLang="zh-CN" sz="24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start_kernel</a:t>
            </a:r>
            <a:r>
              <a:rPr lang="en-US" altLang="zh-CN" sz="24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26533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6FF72-167B-4A5B-9CBA-4F95BB90F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6A32EF-BE08-6F0F-5763-BAAAB29ED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</a:rPr>
              <a:t>实验一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9668D-D9F8-7BA0-8A02-55C8E033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405-CE62-418F-9683-85B6A1C55A4B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6D32558-0748-9CE2-205A-CD8072B1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819" y="6356351"/>
            <a:ext cx="1879341" cy="288990"/>
          </a:xfrm>
        </p:spPr>
        <p:txBody>
          <a:bodyPr/>
          <a:lstStyle/>
          <a:p>
            <a:r>
              <a:rPr lang="en-US" altLang="zh-CN" dirty="0"/>
              <a:t>           </a:t>
            </a:r>
            <a:r>
              <a:rPr lang="zh-CN" altLang="en-US" dirty="0"/>
              <a:t>操作系统实验</a:t>
            </a:r>
            <a:endParaRPr lang="en-US" altLang="zh-CN" dirty="0"/>
          </a:p>
        </p:txBody>
      </p:sp>
      <p:sp>
        <p:nvSpPr>
          <p:cNvPr id="3" name="内容占位符 1">
            <a:extLst>
              <a:ext uri="{FF2B5EF4-FFF2-40B4-BE49-F238E27FC236}">
                <a16:creationId xmlns:a16="http://schemas.microsoft.com/office/drawing/2014/main" id="{93530F5F-D35C-C5E2-76B1-BE71DB458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制作</a:t>
            </a:r>
            <a:r>
              <a:rPr lang="en-US" altLang="zh-CN" b="1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Initramfs</a:t>
            </a:r>
            <a:endParaRPr lang="en-US" altLang="zh-CN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加载</a:t>
            </a:r>
            <a:r>
              <a:rPr lang="en-US" altLang="zh-CN" b="1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initramfs</a:t>
            </a:r>
            <a:r>
              <a:rPr lang="zh-CN" altLang="en-US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并再次使用</a:t>
            </a:r>
            <a:r>
              <a:rPr lang="en-US" altLang="zh-CN" b="1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gdb</a:t>
            </a:r>
            <a:r>
              <a:rPr lang="zh-CN" altLang="en-US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调试</a:t>
            </a:r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691C66-C5E7-8554-407F-D8D2D1B1060E}"/>
              </a:ext>
            </a:extLst>
          </p:cNvPr>
          <p:cNvSpPr txBox="1"/>
          <p:nvPr/>
        </p:nvSpPr>
        <p:spPr>
          <a:xfrm>
            <a:off x="724829" y="2060326"/>
            <a:ext cx="76943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Linux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系统启动时使用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initramfs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 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initram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 file system),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initramfs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可以在启动早期提供一个用户态环境，借助它可以完成一些内核在启动阶段不易完成的工作。当然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initramfs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是可选的，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Linux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中的内核编译选项默认开启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initrd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。在下面的示例情况中你可能要考虑用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initramfs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加载模块，比如第三方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driver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定制化启动过程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比如打印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welcome message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等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制作一个非常小的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rescue shell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任何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kernel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不能做的，但在用户态可以做的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比如执行某些命令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2737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9B6EF-4109-2212-8312-DA6CFBFC5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D85023-A8D0-9175-6664-CE00E86A8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</a:rPr>
              <a:t>实验一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EDE117-3F36-9C20-9F34-9BD903F3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405-CE62-418F-9683-85B6A1C55A4B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F4B4623-FE9D-CF01-245D-1E1415D7A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819" y="6356351"/>
            <a:ext cx="1879341" cy="288990"/>
          </a:xfrm>
        </p:spPr>
        <p:txBody>
          <a:bodyPr/>
          <a:lstStyle/>
          <a:p>
            <a:r>
              <a:rPr lang="en-US" altLang="zh-CN" dirty="0"/>
              <a:t>           </a:t>
            </a:r>
            <a:r>
              <a:rPr lang="zh-CN" altLang="en-US" dirty="0"/>
              <a:t>操作系统实验</a:t>
            </a:r>
            <a:endParaRPr lang="en-US" altLang="zh-CN" dirty="0"/>
          </a:p>
        </p:txBody>
      </p:sp>
      <p:sp>
        <p:nvSpPr>
          <p:cNvPr id="3" name="内容占位符 1">
            <a:extLst>
              <a:ext uri="{FF2B5EF4-FFF2-40B4-BE49-F238E27FC236}">
                <a16:creationId xmlns:a16="http://schemas.microsoft.com/office/drawing/2014/main" id="{F5654909-895A-1AFD-BBBC-14433153E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编译并启动</a:t>
            </a:r>
            <a:r>
              <a:rPr lang="en-US" altLang="zh-CN" b="1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Busybox</a:t>
            </a:r>
            <a:endParaRPr lang="en-US" altLang="zh-CN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命令行下载</a:t>
            </a:r>
            <a:r>
              <a:rPr lang="en-US" altLang="zh-CN" sz="20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Busybox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:</a:t>
            </a:r>
            <a:r>
              <a:rPr lang="da-DK" altLang="zh-CN" sz="2000" b="0" i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wget https://busybox.net/downloads/busybox-1.33.0.tar.bz2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编译</a:t>
            </a:r>
            <a:r>
              <a:rPr lang="en-US" altLang="zh-CN" sz="20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Busybox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，此时注意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Additional CFLAGS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Additional LDFLAGS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可以按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Enter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键进入输入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(-m32 –march=i386)</a:t>
            </a: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制作</a:t>
            </a:r>
            <a:r>
              <a:rPr lang="en-US" altLang="zh-CN" sz="20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Initramfs</a:t>
            </a:r>
            <a:endParaRPr lang="en-US" altLang="zh-CN" sz="2000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在加载</a:t>
            </a:r>
            <a:r>
              <a:rPr lang="en-US" altLang="zh-CN" sz="2000" dirty="0" err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Busybox</a:t>
            </a:r>
            <a:r>
              <a:rPr lang="zh-CN" altLang="en-US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情况下尝试使用</a:t>
            </a:r>
            <a:r>
              <a:rPr lang="en-US" altLang="zh-CN" sz="200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ls</a:t>
            </a:r>
          </a:p>
        </p:txBody>
      </p:sp>
    </p:spTree>
    <p:extLst>
      <p:ext uri="{BB962C8B-B14F-4D97-AF65-F5344CB8AC3E}">
        <p14:creationId xmlns:p14="http://schemas.microsoft.com/office/powerpoint/2010/main" val="2598809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982C-5972-1AD9-4F04-C2EF5642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57186-6B9B-4742-7ECA-315715696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</a:rPr>
              <a:t>实验一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24AFB9-AA23-491C-0715-8F20E6C4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9405-CE62-418F-9683-85B6A1C55A4B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246BA5F-0491-40AB-BF1E-33CE5B5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819" y="6356351"/>
            <a:ext cx="1879341" cy="288990"/>
          </a:xfrm>
        </p:spPr>
        <p:txBody>
          <a:bodyPr/>
          <a:lstStyle/>
          <a:p>
            <a:r>
              <a:rPr lang="en-US" altLang="zh-CN" dirty="0"/>
              <a:t>           </a:t>
            </a:r>
            <a:r>
              <a:rPr lang="zh-CN" altLang="en-US" dirty="0"/>
              <a:t>操作系统实验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FE2BD6-775D-5F4C-9200-D38011D5E88E}"/>
              </a:ext>
            </a:extLst>
          </p:cNvPr>
          <p:cNvSpPr/>
          <p:nvPr/>
        </p:nvSpPr>
        <p:spPr>
          <a:xfrm>
            <a:off x="3708622" y="2967335"/>
            <a:ext cx="17267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kern="1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charset="0"/>
                <a:cs typeface="Arial" charset="0"/>
              </a:rPr>
              <a:t>谢 </a:t>
            </a:r>
            <a:r>
              <a:rPr lang="en-US" altLang="zh-CN" sz="5400" b="0" kern="1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Arial" charset="0"/>
                <a:cs typeface="Arial" charset="0"/>
              </a:rPr>
              <a:t>谢</a:t>
            </a:r>
            <a:endParaRPr lang="zh-CN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0986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32598</TotalTime>
  <Words>1216</Words>
  <Application>Microsoft Office PowerPoint</Application>
  <PresentationFormat>全屏显示(4:3)</PresentationFormat>
  <Paragraphs>159</Paragraphs>
  <Slides>14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-apple-system</vt:lpstr>
      <vt:lpstr>仿宋</vt:lpstr>
      <vt:lpstr>仿宋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操作系统实验</vt:lpstr>
      <vt:lpstr>CONTENT</vt:lpstr>
      <vt:lpstr>实验目的</vt:lpstr>
      <vt:lpstr>实验安排</vt:lpstr>
      <vt:lpstr>实验环境</vt:lpstr>
      <vt:lpstr>实验考核</vt:lpstr>
      <vt:lpstr>实验参考</vt:lpstr>
      <vt:lpstr>实验一</vt:lpstr>
      <vt:lpstr>实验一</vt:lpstr>
      <vt:lpstr>实验一</vt:lpstr>
      <vt:lpstr>实验一</vt:lpstr>
      <vt:lpstr>实验一</vt:lpstr>
      <vt:lpstr>实验一</vt:lpstr>
      <vt:lpstr>实验一</vt:lpstr>
    </vt:vector>
  </TitlesOfParts>
  <Company>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Suzhuo</dc:creator>
  <cp:lastModifiedBy>培超 邱</cp:lastModifiedBy>
  <cp:revision>1530</cp:revision>
  <cp:lastPrinted>2014-03-01T11:01:30Z</cp:lastPrinted>
  <dcterms:created xsi:type="dcterms:W3CDTF">2014-02-24T09:24:21Z</dcterms:created>
  <dcterms:modified xsi:type="dcterms:W3CDTF">2024-02-25T11:38:25Z</dcterms:modified>
</cp:coreProperties>
</file>